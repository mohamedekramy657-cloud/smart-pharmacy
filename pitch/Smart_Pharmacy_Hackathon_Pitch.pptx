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E11D48"/>
              </a:solidFill>
            </c:spPr>
          </c:dPt>
          <c:dPt>
            <c:idx val="1"/>
            <c:spPr>
              <a:solidFill>
                <a:srgbClr val="FB7185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DA4AF"/>
              </a:solidFill>
            </c:spPr>
          </c:dPt>
          <c:cat>
            <c:strRef>
              <c:f>Sheet1!$A$2:$A$5</c:f>
              <c:strCache>
                <c:ptCount val="4"/>
                <c:pt idx="0">
                  <c:v>Jul 2024</c:v>
                </c:pt>
                <c:pt idx="1">
                  <c:v>Aug 2024</c:v>
                </c:pt>
                <c:pt idx="2">
                  <c:v>Mar 2025*</c:v>
                </c:pt>
                <c:pt idx="3">
                  <c:v>Sep 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500</c:v>
                </c:pt>
                <c:pt idx="2">
                  <c:v>1471</c:v>
                </c:pt>
                <c:pt idx="3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00" b="1">
                  <a:solidFill>
                    <a:srgbClr val="0B1F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35.7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F17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99F6E4"/>
              </a:solidFill>
            </c:spPr>
          </c:dPt>
          <c:dPt>
            <c:idx val="1"/>
            <c:spPr>
              <a:solidFill>
                <a:srgbClr val="2DD4BF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216</c:v>
                </c:pt>
                <c:pt idx="1">
                  <c:v>309</c:v>
                </c:pt>
                <c:pt idx="2">
                  <c:v>422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0B1F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97.9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F17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BAE6FD"/>
              </a:solidFill>
            </c:spPr>
          </c:dPt>
          <c:dPt>
            <c:idx val="1"/>
            <c:spPr>
              <a:solidFill>
                <a:srgbClr val="38BDF8"/>
              </a:solidFill>
            </c:spPr>
          </c:dPt>
          <c:dPt>
            <c:idx val="2"/>
            <c:spPr>
              <a:solidFill>
                <a:srgbClr val="0284C7"/>
              </a:solidFill>
            </c:spPr>
          </c:dPt>
          <c:cat>
            <c:strRef>
              <c:f>Sheet1!$A$2:$A$4</c:f>
              <c:strCache>
                <c:ptCount val="3"/>
                <c:pt idx="0">
                  <c:v>2003</c:v>
                </c:pt>
                <c:pt idx="1">
                  <c:v>2013</c:v>
                </c:pt>
                <c:pt idx="2">
                  <c:v>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175</c:v>
                </c:pt>
                <c:pt idx="2">
                  <c:v>313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sz="1500" b="1">
                  <a:solidFill>
                    <a:srgbClr val="0B1F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9.3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F17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0F766E"/>
              </a:solidFill>
            </c:spPr>
          </c:dPt>
          <c:dPt>
            <c:idx val="1"/>
            <c:spPr>
              <a:solidFill>
                <a:srgbClr val="E11D48"/>
              </a:solidFill>
            </c:spPr>
          </c:dPt>
          <c:cat>
            <c:strRef>
              <c:f>Sheet1!$A$2:$A$3</c:f>
              <c:strCache>
                <c:ptCount val="2"/>
                <c:pt idx="0">
                  <c:v>Found nearby</c:v>
                </c:pt>
                <c:pt idx="1">
                  <c:v>No stock nearby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380</c:v>
                </c:pt>
                <c:pt idx="1">
                  <c:v>22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8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0F172A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0F766E"/>
              </a:solidFill>
            </c:spPr>
          </c:dPt>
          <c:dPt>
            <c:idx val="1"/>
            <c:spPr>
              <a:solidFill>
                <a:srgbClr val="2DD4BF"/>
              </a:solidFill>
            </c:spPr>
          </c:dPt>
          <c:dPt>
            <c:idx val="2"/>
            <c:spPr>
              <a:solidFill>
                <a:srgbClr val="5EEAD4"/>
              </a:solidFill>
            </c:spPr>
          </c:dPt>
          <c:dPt>
            <c:idx val="3"/>
            <c:spPr>
              <a:solidFill>
                <a:srgbClr val="99F6E4"/>
              </a:solidFill>
            </c:spPr>
          </c:dPt>
          <c:dPt>
            <c:idx val="4"/>
            <c:spPr>
              <a:solidFill>
                <a:srgbClr val="E11D48"/>
              </a:solidFill>
            </c:spPr>
          </c:dPt>
          <c:cat>
            <c:strRef>
              <c:f>Sheet1!$A$2:$A$6</c:f>
              <c:strCache>
                <c:ptCount val="5"/>
                <c:pt idx="0">
                  <c:v>5 km</c:v>
                </c:pt>
                <c:pt idx="1">
                  <c:v>10 km</c:v>
                </c:pt>
                <c:pt idx="2">
                  <c:v>20 km</c:v>
                </c:pt>
                <c:pt idx="3">
                  <c:v>40 km</c:v>
                </c:pt>
                <c:pt idx="4">
                  <c:v>None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310</c:v>
                </c:pt>
                <c:pt idx="1">
                  <c:v>0</c:v>
                </c:pt>
                <c:pt idx="2">
                  <c:v>18</c:v>
                </c:pt>
                <c:pt idx="3">
                  <c:v>52</c:v>
                </c:pt>
                <c:pt idx="4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0B1F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5.7999999999999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F17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0F766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11D48"/>
              </a:solidFill>
            </c:spPr>
          </c:dPt>
          <c:dPt>
            <c:idx val="3"/>
            <c:spPr>
              <a:solidFill>
                <a:srgbClr val="0284C7"/>
              </a:solidFill>
            </c:spPr>
          </c:dPt>
          <c:cat>
            <c:strRef>
              <c:f>Sheet1!$A$2:$A$5</c:f>
              <c:strCache>
                <c:ptCount val="4"/>
                <c:pt idx="0">
                  <c:v>Confirmed</c:v>
                </c:pt>
                <c:pt idx="1">
                  <c:v>Unconfirmed</c:v>
                </c:pt>
                <c:pt idx="2">
                  <c:v>Outdated</c:v>
                </c:pt>
                <c:pt idx="3">
                  <c:v>POS-fed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28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0B1F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7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F17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Unit rules</c:v>
                </c:pt>
              </c:strCache>
            </c:strRef>
          </c:tx>
          <c:spPr>
            <a:solidFill>
              <a:srgbClr val="12303F"/>
            </a:solidFill>
          </c:spPr>
          <c:cat>
            <c:strRef>
              <c:f>Sheet1!$A$2:$A$2</c:f>
              <c:strCache>
                <c:ptCount val="1"/>
                <c:pt idx="0">
                  <c:v>Tests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E2E workflow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Sheet1!$A$2:$A$2</c:f>
              <c:strCache>
                <c:ptCount val="1"/>
                <c:pt idx="0">
                  <c:v>Tests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 scenarios</c:v>
                </c:pt>
              </c:strCache>
            </c:strRef>
          </c:tx>
          <c:spPr>
            <a:solidFill>
              <a:srgbClr val="2DD4BF"/>
            </a:solidFill>
          </c:spPr>
          <c:cat>
            <c:strRef>
              <c:f>Sheet1!$A$2:$A$2</c:f>
              <c:strCache>
                <c:ptCount val="1"/>
                <c:pt idx="0">
                  <c:v>Tests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Supply &amp; concurrency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Sheet1!$A$2:$A$2</c:f>
              <c:strCache>
                <c:ptCount val="1"/>
                <c:pt idx="0">
                  <c:v>Tests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Security &amp; jobs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Sheet1!$A$2:$A$2</c:f>
              <c:strCache>
                <c:ptCount val="1"/>
                <c:pt idx="0">
                  <c:v>Tests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F17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Sequential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Sheet1!$A$2:$A$3</c:f>
              <c:strCache>
                <c:ptCount val="2"/>
                <c:pt idx="0">
                  <c:v>Median (p50)</c:v>
                </c:pt>
                <c:pt idx="1">
                  <c:v>95th percentile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 concurrent users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Sheet1!$A$2:$A$3</c:f>
              <c:strCache>
                <c:ptCount val="2"/>
                <c:pt idx="0">
                  <c:v>Median (p50)</c:v>
                </c:pt>
                <c:pt idx="1">
                  <c:v>95th percentile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84</c:v>
                </c:pt>
                <c:pt idx="1">
                  <c:v>134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0B1F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7999999999999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0F17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— we're team Smart Pharmacy. In Egypt, when a medicine goes missing, patients don't know which pharmacy still has it. We built a working platform that shows the nearest verified pharmacy with fresh stock, and connects pharmacies and warehouses so that stock data stays honest. Everything you'll see is a live prototype running on clearly labelled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pattern: in 2024 around a thousand medicines were reported short, including Concor, Augmentin, Brufen and Cataflam. Patients lose time and some buy from the black market. Pharmacists spend about 30% of their day chasing stock. Warehouses can't see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at the numbers: depending on who counts, Egypt had between 200 and almost 1,500 medicines in shortage in the last two years. Even the official figures disagree — because nobody has a shared, live view of stock. Supply recovered by late 2025, but critical medicines still disappear.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this happen? Egypt has around 95,000 pharmacies, mostly independent because the law limits ownership to two per pharmacist. There's no shared inventory system: stock lives in notebooks, isolated POS systems and phone calls to thousands of suppliers.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is big and growing: EGP 422 billion in 2025 according to the Egyptian Drug Authority, with 313,000 pharmacists. And Egyptians are online: 96 million internet users, mostly on mobile — so a mobile-first, Arabic-first service can reach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is one network for three users. Patients search and find verified stock nearby. Pharmacies manage inventory with a tamper-proof ledger and order from warehouses. Warehouses fulfil orders, schedule deliveries and see real demand. A trust layer makes sure what patients see is verified and 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patient searches the exact product, shares a location or picks an area, and we rank verified, fresh stock first — starting at 5 km and expanding only if needed. Behind the scenes, the supply loop keeps data honest: orders and shipments never inflate stock; only a verified receipt updates the ledger, and patients see it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real app. The picker forces an exact choice — Concor 5 mg is never confused with 2.5 mg. Results show distance, a verified badge, opening status and how fresh the stock data is. Expected deliveries appear separately, so we never promise stock that isn't on the shelf.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pharmacies: a clean inventory with clear availability, an incoming-stock view that tracks every order until verified receipt, and a ledger where every unit change is recorded. Available stock can never go negative — the database enforces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Warehouses confirm orders — fully or partially — and the stock is reserved immediately, so it can't be sold twice. Shipments carry delivery dates with a confidence level, and delays need a reason. Admins verify every pharmacy and see platform health, jobs and audit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is the core. Every listing carries a freshness label based on its source: integrations are fresh for 2 hours, staff updates for 12. Outdated data is labelled and pushed down. The database guarantees stock can't go negative, every change is in an append-only ledger, and a closer unconfirmed listing never beats a verified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charts come straight from our prototype's database. We simulated 400 patient searches on demo data. Most found stock within 5 km; outlying towns needed the wider rings. The interesting part: every unmet search was for insulin, which only a warehouse had. That's a demand signal — anonymous — that warehouses and authorities can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a mockup. 67 automated tests pass, including a 20-step end-to-end acceptance test covering admin, pharmacy, warehouse and patient. Search answers in 15 milliseconds at the median on 3,000 synthetic pharmacies, and the stock ledger reconciles with zero mismatches.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players are strong at what they do: Chefaa, Yodawy and Vezeeta focus on ordering and delivery; Pharmacy Marts and iSupply digitise pharmacy procurement; the Drug Authority collects shortage reports. We sit across these: live, verified availability for patients, connected to the pharmacy and warehouse supply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Patients will always use it for free. Revenue comes from pharmacies upgrading to Pro features, warehouses using order and shipment management, and anonymised demand insights. We'll validate this in an 8-week pilot in Ismailia with 5 to 10 pharmacies and one warehouse, then expand along the Suez Canal and to Cairo.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built the core this hackathon. Next: a real pilot in Ismailia, SMS and WhatsApp alerts, POS connectors and a verified catalog from Drug Authority data. Then forecasting, insurance partners and expansion to Cairo.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a team of five: Ahmed Alsaholy, Ahmed Shahen, Khaled Zakarya, Mohamed Ekramy and Fayez Mohamed. Thank you — we'd love your questions, and we'd love to pilot this with real pharmacies.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market figures come from the sources listed here, with links. Prototype numbers are our own measurements, and every screen uses clearly labelled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gypttoday.com/Article/1/149579/Egypt%E2%80%99s-domestic-population-reaches-109-5-Million-CAPMAS" TargetMode="External"/><Relationship Id="rId3" Type="http://schemas.openxmlformats.org/officeDocument/2006/relationships/hyperlink" Target="https://www.sciencedirect.com/science/article/pii/S2667276623001658" TargetMode="External"/><Relationship Id="rId4" Type="http://schemas.openxmlformats.org/officeDocument/2006/relationships/hyperlink" Target="https://www.dailynewsegypt.com/2025/06/03/egypts-pharmaceutical-market-hits-egp-309bn-in-2024-marking-43-growth/" TargetMode="External"/><Relationship Id="rId5" Type="http://schemas.openxmlformats.org/officeDocument/2006/relationships/hyperlink" Target="https://www.arabfinance.com/en/news/newdetails/exploring-egypt-rising-pharmaceutical-industry" TargetMode="External"/><Relationship Id="rId6" Type="http://schemas.openxmlformats.org/officeDocument/2006/relationships/hyperlink" Target="https://www.middleeastmonitor.com/20240730-egyptians-face-illness-amid-a-serious-scarcity-of-medicines/" TargetMode="External"/><Relationship Id="rId7" Type="http://schemas.openxmlformats.org/officeDocument/2006/relationships/hyperlink" Target="https://english.ahram.org.eg/NewsContentP/1/530363/Egypt/Egypt-drug-shortage-crisis-Major-relief-around-the.aspx" TargetMode="External"/><Relationship Id="rId8" Type="http://schemas.openxmlformats.org/officeDocument/2006/relationships/hyperlink" Target="https://businessmonthlyeg.com/pharmaceutical-shortages-worsen-in-egypt-how-government-and-pharmacists-respond/" TargetMode="External"/><Relationship Id="rId9" Type="http://schemas.openxmlformats.org/officeDocument/2006/relationships/hyperlink" Target="https://zawia3.com/en/psychiatric-medications/" TargetMode="External"/><Relationship Id="rId10" Type="http://schemas.openxmlformats.org/officeDocument/2006/relationships/hyperlink" Target="https://enterpriseam.com/egypt/2025/09/03/pharma-firms-push-for-price-hikes-as-shortages-and-black-market-resurface/" TargetMode="External"/><Relationship Id="rId11" Type="http://schemas.openxmlformats.org/officeDocument/2006/relationships/hyperlink" Target="https://en.majalla.com/node/328622/business-economy/egypt%E2%80%99s-drug-price-increases-help-companies-not-patients" TargetMode="External"/><Relationship Id="rId12" Type="http://schemas.openxmlformats.org/officeDocument/2006/relationships/hyperlink" Target="https://www.thenationalnews.com/mena/egypt/2024/02/15/medicine-shortages-cairo-diabetes-drugs/" TargetMode="External"/><Relationship Id="rId13" Type="http://schemas.openxmlformats.org/officeDocument/2006/relationships/hyperlink" Target="https://www.wamda.com/2024/03/egypt-pharmacy-marts-secures-bridge-round-acasia-ventures" TargetMode="External"/><Relationship Id="rId14" Type="http://schemas.openxmlformats.org/officeDocument/2006/relationships/hyperlink" Target="https://www.madamasr.com/en/2021/03/09/feature/economy/the-rise-and-fall-of-egypts-top-pharmaceutical-chain/" TargetMode="External"/><Relationship Id="rId15" Type="http://schemas.openxmlformats.org/officeDocument/2006/relationships/hyperlink" Target="https://naos-solutions.com/egyptians-and-digital-2025-report/" TargetMode="External"/><Relationship Id="rId16" Type="http://schemas.openxmlformats.org/officeDocument/2006/relationships/hyperlink" Target="https://www.zawya.com/en/business/technology-and-telecom/egypts-mobile-internet-users-hit-926mln-in-december-2025-idsc-hwrcfjnz" TargetMode="External"/><Relationship Id="rId17" Type="http://schemas.openxmlformats.org/officeDocument/2006/relationships/hyperlink" Target="https://english.ahram.org.eg/UI/Front/Inner.aspx?NewsContentID=527162" TargetMode="External"/><Relationship Id="rId18" Type="http://schemas.openxmlformats.org/officeDocument/2006/relationships/hyperlink" Target="https://accretiveedge.com/articles/healthtech-startups-middle-east/" TargetMode="External"/><Relationship Id="rId1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5943600" cy="5943600"/>
          </a:xfrm>
          <a:prstGeom prst="ellipse">
            <a:avLst/>
          </a:prstGeom>
          <a:solidFill>
            <a:srgbClr val="0F766E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2DD4B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300">
                <a:solidFill>
                  <a:srgbClr val="2DD4BF"/>
                </a:solidFill>
                <a:latin typeface="Calibri"/>
                <a:ea typeface="Calibri"/>
                <a:cs typeface="Arial"/>
              </a:rPr>
              <a:t>HACKATHON PITCH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Smart Pharmacy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2DD4BF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E2E8F0"/>
                </a:solidFill>
                <a:latin typeface="Calibri"/>
                <a:ea typeface="Calibri"/>
                <a:cs typeface="Arial"/>
              </a:rPr>
              <a:t>Find the nearest pharmacy that actually has your medicine — verified, fresh, in Arabic &amp; English.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43400"/>
            <a:ext cx="146304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4343400"/>
            <a:ext cx="146304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Pharmacies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343400"/>
            <a:ext cx="146304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Warehouses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  <a:ea typeface="Calibri"/>
                <a:cs typeface="Arial"/>
              </a:rPr>
              <a:t>Live prototype · demo data · Ismailia, Egypt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25312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BD5E1"/>
                </a:solidFill>
                <a:latin typeface="Calibri"/>
                <a:ea typeface="Calibri"/>
                <a:cs typeface="Arial"/>
              </a:rPr>
              <a:t>Ahmed Alsaholy · Ahmed Shahen · Khaled Zakarya · Mohamed Ekramy · Fayez Mohamed</a:t>
            </a:r>
          </a:p>
        </p:txBody>
      </p:sp>
      <p:pic>
        <p:nvPicPr>
          <p:cNvPr id="13" name="Picture 12" descr="browser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777240"/>
            <a:ext cx="6126480" cy="3484078"/>
          </a:xfrm>
          <a:prstGeom prst="rect">
            <a:avLst/>
          </a:prstGeom>
        </p:spPr>
      </p:pic>
      <p:pic>
        <p:nvPicPr>
          <p:cNvPr id="14" name="Picture 13" descr="phone-ar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103120"/>
            <a:ext cx="236964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When a medicine disappears, patients go pharmacy to pharmacy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257800" cy="310896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1270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20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ILLUSTRATIVE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709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Um Ahmed, 58, lives in Ismailia and takes Concor 5 mg for her blood pressure.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Her pharmacy is out. She calls six pharmacies, visits three — and still can't tell who has it, or when the next delivery arrives.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Concor, Augmentin, Brufen and Cataflam were all reported short in 2024 [5][11].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554480"/>
            <a:ext cx="82296" cy="93268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82495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84248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Lost time and money; some turn to black-market packs of unknown origin [11].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624328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2624328"/>
            <a:ext cx="82296" cy="9326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75234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Pharmacists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54096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About 30% of their time goes to checking stock and calling suppliers by hand [12].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694176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694176"/>
            <a:ext cx="82296" cy="93268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Warehouses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2394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No live view of where demand is — orders arrive by phone, shortages are spotted 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038344"/>
            <a:ext cx="32095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~1,000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501640"/>
            <a:ext cx="3209544" cy="670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of 17,000 registered medicines hit by shortages (Jul 2024) [5]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8920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5038344"/>
            <a:ext cx="32095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30M+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5501640"/>
            <a:ext cx="3209544" cy="670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Egyptians with hypertension depend on chronic medicines [5]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8920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5038344"/>
            <a:ext cx="32095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11M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501640"/>
            <a:ext cx="3209544" cy="670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people live with diabetes and need insulin and tablets every month [11]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[5] [11] [12]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THE PROBLEM IN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Shortages come and go — and nobody shares one live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Reported number of medicines in shortage — Egypt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783080"/>
          <a:ext cx="64922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9612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* Branded trade names (FEI Pharmaceutical Chamber). Counts come from different bodies and definitions — that inconsistency is part of the problem [5][6][8][9].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08760"/>
            <a:ext cx="4343400" cy="11704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61848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20–40%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57400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of trade names were short in mid-2024, while 15–20% of active-ingredient demand went unmet [7].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807208"/>
            <a:ext cx="4343400" cy="11704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91693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355848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branded drugs had no available alternative in March 2025 [8].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105656"/>
            <a:ext cx="4343400" cy="11704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215384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40% → &lt;5%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654296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shortage share by late 2025 — yet insulin, cardiac and oncology medicines still go missing [9][10].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5440680"/>
            <a:ext cx="4343400" cy="685800"/>
          </a:xfrm>
          <a:prstGeom prst="roundRect">
            <a:avLst>
              <a:gd name="adj" fmla="val 1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Patients need to know where the last boxes are — today.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[5]–[10]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95,000 pharmacies. Zero shared stock visibility.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00784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95,000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20976"/>
            <a:ext cx="2340864" cy="1305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community pharmacies — one of the highest densities in the world [2]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700784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≤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220976"/>
            <a:ext cx="2340864" cy="1305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pharmacies per pharmacist by law → mostly independent shops, no chain-wide inventory [13]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49624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59E0B"/>
                </a:solidFill>
                <a:latin typeface="Calibri"/>
                <a:ea typeface="Calibri"/>
                <a:cs typeface="Arial"/>
              </a:rPr>
              <a:t>7,000+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369816"/>
            <a:ext cx="2340864" cy="1305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products from ~3,000 suppliers, still ordered largely by phone [12]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70332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3849624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59E0B"/>
                </a:solidFill>
                <a:latin typeface="Calibri"/>
                <a:ea typeface="Calibri"/>
                <a:cs typeface="Arial"/>
              </a:rPr>
              <a:t>~30%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369816"/>
            <a:ext cx="2340864" cy="1305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of a pharmacist's time spent checking stock and prices manually [12]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554480"/>
            <a:ext cx="5212080" cy="4160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37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Today: every link is a phone call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3246120"/>
            <a:ext cx="868680" cy="8686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Patient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3200400"/>
            <a:ext cx="1234440" cy="96012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Warehouses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2148840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Rx ?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699248" y="2377440"/>
            <a:ext cx="832104" cy="1298447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345168" y="2377440"/>
            <a:ext cx="832104" cy="1298447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49640" y="2788920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Rx ?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699248" y="3017520"/>
            <a:ext cx="832104" cy="658367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45168" y="3017520"/>
            <a:ext cx="832104" cy="658367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49640" y="3429000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Rx ?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699248" y="3657600"/>
            <a:ext cx="832104" cy="18287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45168" y="3657600"/>
            <a:ext cx="832104" cy="18287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49640" y="4069079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Rx 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99248" y="3675887"/>
            <a:ext cx="832104" cy="621792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345168" y="3675887"/>
            <a:ext cx="832104" cy="621792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49640" y="4709160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Rx 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99248" y="3675887"/>
            <a:ext cx="832104" cy="1261873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345168" y="3675887"/>
            <a:ext cx="832104" cy="1261873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20840" y="5257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No live stock  ·  no delivery ETAs  ·  no trust 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[2] [12] [13]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A large, fast-growing and digital-ready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Egypt pharma market (EGP bn)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783080"/>
          <a:ext cx="39319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949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+43% in 2024 · +37% in 2025 — Egyptian Drug Authority [3][4]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63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Registered pharmacists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0" y="1783080"/>
          <a:ext cx="338328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63440" y="5394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4.4× in 20 years — Pharmacists Syndicate records [2]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630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609344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109.5M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1987296"/>
            <a:ext cx="2980944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people in Egypt (CAPMAS, Sep 2026) [1]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578608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724912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96.3M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102864"/>
            <a:ext cx="2980944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internet users · 81.9% penetration (Jan 2025) [14]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694176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3840480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92.6M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4218432"/>
            <a:ext cx="2980944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mobile-internet subscriptions (Dec 2025) [15]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809744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4956048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~4B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5334000"/>
            <a:ext cx="2980944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medicine packs sold in 2025 (EDA) [4]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[1]–[4] [14] [15]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One verified network for medicine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connects patients, pharmacies and warehouses around one question: who has this exact medicine, right now, near 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611880" cy="566928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For patients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Search by brand, generic, ingredient or barcode — Arabic or English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93591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29584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Nearest verified pharmacies with fresh stock, 5 → 10 → 20 → 40 km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37997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Directions, call, ask to confirm or hold — or get an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96596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79" y="1965960"/>
            <a:ext cx="3611880" cy="566928"/>
          </a:xfrm>
          <a:prstGeom prst="roundRect">
            <a:avLst>
              <a:gd name="adj" fmla="val 20000"/>
            </a:avLst>
          </a:prstGeom>
          <a:solidFill>
            <a:srgbClr val="1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For pharmacies</a:t>
            </a:r>
          </a:p>
        </p:txBody>
      </p:sp>
      <p:sp>
        <p:nvSpPr>
          <p:cNvPr id="15" name="Oval 14"/>
          <p:cNvSpPr/>
          <p:nvPr/>
        </p:nvSpPr>
        <p:spPr>
          <a:xfrm>
            <a:off x="4526279" y="2807208"/>
            <a:ext cx="109728" cy="109728"/>
          </a:xfrm>
          <a:prstGeom prst="ellipse">
            <a:avLst/>
          </a:prstGeom>
          <a:solidFill>
            <a:srgbClr val="1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743200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Inventory with batches, expiry and low-stock alerts</a:t>
            </a:r>
          </a:p>
        </p:txBody>
      </p:sp>
      <p:sp>
        <p:nvSpPr>
          <p:cNvPr id="17" name="Oval 16"/>
          <p:cNvSpPr/>
          <p:nvPr/>
        </p:nvSpPr>
        <p:spPr>
          <a:xfrm>
            <a:off x="4526279" y="3593591"/>
            <a:ext cx="109728" cy="109728"/>
          </a:xfrm>
          <a:prstGeom prst="ellipse">
            <a:avLst/>
          </a:prstGeom>
          <a:solidFill>
            <a:srgbClr val="1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529584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Every unit change recorded in an auditable ledger</a:t>
            </a:r>
          </a:p>
        </p:txBody>
      </p:sp>
      <p:sp>
        <p:nvSpPr>
          <p:cNvPr id="19" name="Oval 18"/>
          <p:cNvSpPr/>
          <p:nvPr/>
        </p:nvSpPr>
        <p:spPr>
          <a:xfrm>
            <a:off x="4526279" y="4379976"/>
            <a:ext cx="109728" cy="109728"/>
          </a:xfrm>
          <a:prstGeom prst="ellipse">
            <a:avLst/>
          </a:prstGeom>
          <a:solidFill>
            <a:srgbClr val="1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4315968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Order from warehouses; track incoming stock and ETAs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96596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19" y="1965960"/>
            <a:ext cx="3611880" cy="566928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For warehouses</a:t>
            </a:r>
          </a:p>
        </p:txBody>
      </p:sp>
      <p:sp>
        <p:nvSpPr>
          <p:cNvPr id="23" name="Oval 22"/>
          <p:cNvSpPr/>
          <p:nvPr/>
        </p:nvSpPr>
        <p:spPr>
          <a:xfrm>
            <a:off x="8275319" y="2807208"/>
            <a:ext cx="109728" cy="10972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2743200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Accept or partially fill orders with automatic allocation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8275319" y="3593591"/>
            <a:ext cx="109728" cy="10972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3529584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Shipments, delivery dates and delays — with reasons</a:t>
            </a:r>
          </a:p>
        </p:txBody>
      </p:sp>
      <p:sp>
        <p:nvSpPr>
          <p:cNvPr id="27" name="Oval 26"/>
          <p:cNvSpPr/>
          <p:nvPr/>
        </p:nvSpPr>
        <p:spPr>
          <a:xfrm>
            <a:off x="8275319" y="4379976"/>
            <a:ext cx="109728" cy="10972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9" y="4315968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Resolve discrepancies; see real demand signals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109960" cy="658368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45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Trust layer:  admin-verified pharmacies  ·  freshness labels  ·  auditable stock ledger  ·  privacy by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From search to pickup — and from warehouse to shelf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27632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642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Exact product: brand, generic, ingredient or barcode — Arabic or English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82112" y="2167128"/>
            <a:ext cx="182880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14630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66160" y="1627632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16642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Locate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GPS (with consent), city / district, or a pin on the map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6752" y="2167128"/>
            <a:ext cx="182880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14630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627632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16642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Verified &amp; fresh stock first; expand 5 → 10 → 20 → 40 km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51392" y="2167128"/>
            <a:ext cx="182880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14630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1627632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16642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Directions, call, confirm or hold — or set an alert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54680"/>
            <a:ext cx="5257800" cy="2971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291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Progressive radius search</a:t>
            </a:r>
          </a:p>
        </p:txBody>
      </p:sp>
      <p:sp>
        <p:nvSpPr>
          <p:cNvPr id="25" name="Oval 24"/>
          <p:cNvSpPr/>
          <p:nvPr/>
        </p:nvSpPr>
        <p:spPr>
          <a:xfrm>
            <a:off x="822959" y="3566160"/>
            <a:ext cx="2468880" cy="2468880"/>
          </a:xfrm>
          <a:prstGeom prst="ellipse">
            <a:avLst/>
          </a:prstGeom>
          <a:solidFill>
            <a:srgbClr val="0F766E">
              <a:alpha val="8000"/>
            </a:srgbClr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7596" y="3802075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40 km</a:t>
            </a:r>
          </a:p>
        </p:txBody>
      </p:sp>
      <p:sp>
        <p:nvSpPr>
          <p:cNvPr id="27" name="Oval 26"/>
          <p:cNvSpPr/>
          <p:nvPr/>
        </p:nvSpPr>
        <p:spPr>
          <a:xfrm>
            <a:off x="1143000" y="3886200"/>
            <a:ext cx="1828800" cy="1828800"/>
          </a:xfrm>
          <a:prstGeom prst="ellipse">
            <a:avLst/>
          </a:prstGeom>
          <a:solidFill>
            <a:srgbClr val="0F766E">
              <a:alpha val="12000"/>
            </a:srgbClr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40325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20 km</a:t>
            </a:r>
          </a:p>
        </p:txBody>
      </p:sp>
      <p:sp>
        <p:nvSpPr>
          <p:cNvPr id="29" name="Oval 28"/>
          <p:cNvSpPr/>
          <p:nvPr/>
        </p:nvSpPr>
        <p:spPr>
          <a:xfrm>
            <a:off x="1435607" y="4178808"/>
            <a:ext cx="1243584" cy="1243584"/>
          </a:xfrm>
          <a:prstGeom prst="ellipse">
            <a:avLst/>
          </a:prstGeom>
          <a:solidFill>
            <a:srgbClr val="0F766E">
              <a:alpha val="18000"/>
            </a:srgbClr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6490" y="4243181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10 km</a:t>
            </a:r>
          </a:p>
        </p:txBody>
      </p:sp>
      <p:sp>
        <p:nvSpPr>
          <p:cNvPr id="31" name="Oval 30"/>
          <p:cNvSpPr/>
          <p:nvPr/>
        </p:nvSpPr>
        <p:spPr>
          <a:xfrm>
            <a:off x="1709928" y="4453128"/>
            <a:ext cx="694944" cy="694944"/>
          </a:xfrm>
          <a:prstGeom prst="ellipse">
            <a:avLst/>
          </a:prstGeom>
          <a:solidFill>
            <a:srgbClr val="0F766E">
              <a:alpha val="30000"/>
            </a:srgbClr>
          </a:solidFill>
          <a:ln w="952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8979" y="44406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5 km</a:t>
            </a:r>
          </a:p>
        </p:txBody>
      </p:sp>
      <p:sp>
        <p:nvSpPr>
          <p:cNvPr id="33" name="Oval 32"/>
          <p:cNvSpPr/>
          <p:nvPr/>
        </p:nvSpPr>
        <p:spPr>
          <a:xfrm>
            <a:off x="1975104" y="4718304"/>
            <a:ext cx="164592" cy="164592"/>
          </a:xfrm>
          <a:prstGeom prst="ellipse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03704" y="463600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37943" y="492861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05456" y="5065776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25295" y="4379976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25496" y="4059936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36776" y="5614416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3794760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Stops at the first ring with verified, fresh stock.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Patients can expand anytime — up to 40 km (configurable).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One indexed query; results in milliseconds.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3154680"/>
            <a:ext cx="5669280" cy="2971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291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Supply loop keeps stock honest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749039"/>
            <a:ext cx="1572768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Pharmacy orders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8431" y="3749039"/>
            <a:ext cx="1572768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Warehouse confirms &amp; allocates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38944" y="3749039"/>
            <a:ext cx="1572768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Shipment + ETA (delays flagged)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38944" y="4800600"/>
            <a:ext cx="1572768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Pharmacy receives &amp; verifies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8431" y="4800600"/>
            <a:ext cx="1572768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Ledger updates stock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800600"/>
            <a:ext cx="1572768" cy="713232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Patients see it instantly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99831" y="4105656"/>
            <a:ext cx="219457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10344" y="4105656"/>
            <a:ext cx="219456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625328" y="4480560"/>
            <a:ext cx="0" cy="301752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628632" y="5157216"/>
            <a:ext cx="219456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7818120" y="5157216"/>
            <a:ext cx="219455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217920" y="564184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Orders and dispatches never inflate pharmacy stock — only a verified receipt does.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PRODUCT ·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Patient finder — exact product, nearest verified stock</a:t>
            </a:r>
          </a:p>
        </p:txBody>
      </p:sp>
      <p:pic>
        <p:nvPicPr>
          <p:cNvPr id="4" name="Picture 3" descr="browser-find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6309360" cy="4275034"/>
          </a:xfrm>
          <a:prstGeom prst="rect">
            <a:avLst/>
          </a:prstGeom>
        </p:spPr>
      </p:pic>
      <p:pic>
        <p:nvPicPr>
          <p:cNvPr id="5" name="Picture 4" descr="phone-ar-p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88720"/>
            <a:ext cx="2486954" cy="4846320"/>
          </a:xfrm>
          <a:prstGeom prst="rect">
            <a:avLst/>
          </a:prstGeom>
        </p:spPr>
      </p:pic>
      <p:pic>
        <p:nvPicPr>
          <p:cNvPr id="6" name="Picture 5" descr="phone-ar-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188720"/>
            <a:ext cx="2486954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Distance · verified · open now · freshness — expected deliveries are kept separate, never counted as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59893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Exact-product picker (5 mg ≠ 2.5 mg) · Arabic-first, right-to-left, no account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PRODUCT · PHARMACIES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Pharmacy workspace — inventory you can trust</a:t>
            </a:r>
          </a:p>
        </p:txBody>
      </p:sp>
      <p:pic>
        <p:nvPicPr>
          <p:cNvPr id="4" name="Picture 3" descr="card-inventory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989320" cy="1849826"/>
          </a:xfrm>
          <a:prstGeom prst="rect">
            <a:avLst/>
          </a:prstGeom>
        </p:spPr>
      </p:pic>
      <p:pic>
        <p:nvPicPr>
          <p:cNvPr id="5" name="Picture 4" descr="card-incoming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54680"/>
            <a:ext cx="5989320" cy="1332000"/>
          </a:xfrm>
          <a:prstGeom prst="rect">
            <a:avLst/>
          </a:prstGeom>
        </p:spPr>
      </p:pic>
      <p:pic>
        <p:nvPicPr>
          <p:cNvPr id="6" name="Picture 5" descr="card-led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188720"/>
            <a:ext cx="5577840" cy="2788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4160520"/>
            <a:ext cx="5212080" cy="731520"/>
          </a:xfrm>
          <a:prstGeom prst="roundRect">
            <a:avLst>
              <a:gd name="adj" fmla="val 15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Available = Physical − Reserved − Unavailable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95604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Never negative — enforced by the database. Every change is an append-only ledger entry.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68172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Low-stock &amp; expiry alerts · CSV import · barcode lookup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09320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Incoming stock tracked from order to verified receipt — separate from shelf stock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50468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Patient confirmation requests and holds with pickup codes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PRODUCT · WAREHOUSES &amp;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Warehouse operations and platform trust controls</a:t>
            </a:r>
          </a:p>
        </p:txBody>
      </p:sp>
      <p:pic>
        <p:nvPicPr>
          <p:cNvPr id="4" name="Picture 3" descr="card-warehouse-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7008"/>
            <a:ext cx="5486400" cy="2508885"/>
          </a:xfrm>
          <a:prstGeom prst="rect">
            <a:avLst/>
          </a:prstGeom>
        </p:spPr>
      </p:pic>
      <p:pic>
        <p:nvPicPr>
          <p:cNvPr id="5" name="Picture 4" descr="card-warehouse-ship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657600"/>
            <a:ext cx="5486400" cy="2257425"/>
          </a:xfrm>
          <a:prstGeom prst="rect">
            <a:avLst/>
          </a:prstGeom>
        </p:spPr>
      </p:pic>
      <p:pic>
        <p:nvPicPr>
          <p:cNvPr id="6" name="Picture 5" descr="browser-admin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188720"/>
            <a:ext cx="5943600" cy="403831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172200" y="536752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5303520"/>
            <a:ext cx="5257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Confirming an order reserves stock instantly — no overselling</a:t>
            </a:r>
          </a:p>
        </p:txBody>
      </p:sp>
      <p:sp>
        <p:nvSpPr>
          <p:cNvPr id="9" name="Oval 8"/>
          <p:cNvSpPr/>
          <p:nvPr/>
        </p:nvSpPr>
        <p:spPr>
          <a:xfrm>
            <a:off x="6172200" y="571500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650992"/>
            <a:ext cx="5257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Delays require a reason; pharmacies are notified automatically</a:t>
            </a:r>
          </a:p>
        </p:txBody>
      </p:sp>
      <p:sp>
        <p:nvSpPr>
          <p:cNvPr id="11" name="Oval 10"/>
          <p:cNvSpPr/>
          <p:nvPr/>
        </p:nvSpPr>
        <p:spPr>
          <a:xfrm>
            <a:off x="6172200" y="6062472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998464"/>
            <a:ext cx="5257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Admins verify every pharmacy before patients can 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What patients see is verified, fresh — and provable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Freshness windows (configurable)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4572000" cy="493776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5603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Update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960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Outdated 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9152"/>
            <a:ext cx="4572000" cy="49377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25603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Pharmacy POS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59152"/>
            <a:ext cx="822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2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59152"/>
            <a:ext cx="960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24 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89504"/>
            <a:ext cx="45720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9504"/>
            <a:ext cx="25603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Staff update · barcode · delivery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89504"/>
            <a:ext cx="822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12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889504"/>
            <a:ext cx="960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72 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9856"/>
            <a:ext cx="4572000" cy="49377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19856"/>
            <a:ext cx="25603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CSV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419856"/>
            <a:ext cx="822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24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419856"/>
            <a:ext cx="960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11D48"/>
                </a:solidFill>
                <a:latin typeface="Calibri"/>
                <a:ea typeface="Calibri"/>
                <a:cs typeface="Arial"/>
              </a:rPr>
              <a:t>7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A failing or silent integration is automatically downgraded — it can never look fresh.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14630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What patients see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182880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1" i="0">
                <a:solidFill>
                  <a:srgbClr val="166534"/>
                </a:solidFill>
                <a:latin typeface="Calibri"/>
                <a:ea typeface="Calibri"/>
                <a:cs typeface="Arial"/>
              </a:rPr>
              <a:t>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0" y="23317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1" i="0">
                <a:solidFill>
                  <a:srgbClr val="92400E"/>
                </a:solidFill>
                <a:latin typeface="Calibri"/>
                <a:ea typeface="Calibri"/>
                <a:cs typeface="Arial"/>
              </a:rPr>
              <a:t>Low stock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2834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1" i="0">
                <a:solidFill>
                  <a:srgbClr val="92400E"/>
                </a:solidFill>
                <a:latin typeface="Calibri"/>
                <a:ea typeface="Calibri"/>
                <a:cs typeface="Arial"/>
              </a:rPr>
              <a:t>Recently reported — unconfirmed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333756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1" i="0">
                <a:solidFill>
                  <a:srgbClr val="92400E"/>
                </a:solidFill>
                <a:latin typeface="Calibri"/>
                <a:ea typeface="Calibri"/>
                <a:cs typeface="Arial"/>
              </a:rPr>
              <a:t>Fewer units than requested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384048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1" i="0">
                <a:solidFill>
                  <a:srgbClr val="9F1239"/>
                </a:solidFill>
                <a:latin typeface="Calibri"/>
                <a:ea typeface="Calibri"/>
                <a:cs typeface="Arial"/>
              </a:rPr>
              <a:t>Outdated — call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434340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1" i="0">
                <a:solidFill>
                  <a:srgbClr val="075985"/>
                </a:solidFill>
                <a:latin typeface="Calibri"/>
                <a:ea typeface="Calibri"/>
                <a:cs typeface="Arial"/>
              </a:rPr>
              <a:t>Expected delivery — not in 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1463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Guarantees</a:t>
            </a:r>
          </a:p>
        </p:txBody>
      </p:sp>
      <p:sp>
        <p:nvSpPr>
          <p:cNvPr id="30" name="Oval 29"/>
          <p:cNvSpPr/>
          <p:nvPr/>
        </p:nvSpPr>
        <p:spPr>
          <a:xfrm>
            <a:off x="8641080" y="1892807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82880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Available stock can't go negative (DB-enforced)</a:t>
            </a:r>
          </a:p>
        </p:txBody>
      </p:sp>
      <p:sp>
        <p:nvSpPr>
          <p:cNvPr id="32" name="Oval 31"/>
          <p:cNvSpPr/>
          <p:nvPr/>
        </p:nvSpPr>
        <p:spPr>
          <a:xfrm>
            <a:off x="8641080" y="2395727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233172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Append-only ledger: every unit traceable</a:t>
            </a:r>
          </a:p>
        </p:txBody>
      </p:sp>
      <p:sp>
        <p:nvSpPr>
          <p:cNvPr id="34" name="Oval 33"/>
          <p:cNvSpPr/>
          <p:nvPr/>
        </p:nvSpPr>
        <p:spPr>
          <a:xfrm>
            <a:off x="8641080" y="289864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83464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Duplicate-safe orders &amp; syncs</a:t>
            </a:r>
          </a:p>
        </p:txBody>
      </p:sp>
      <p:sp>
        <p:nvSpPr>
          <p:cNvPr id="36" name="Oval 35"/>
          <p:cNvSpPr/>
          <p:nvPr/>
        </p:nvSpPr>
        <p:spPr>
          <a:xfrm>
            <a:off x="8641080" y="340156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333756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Pharmacies can't touch each other's data</a:t>
            </a:r>
          </a:p>
        </p:txBody>
      </p:sp>
      <p:sp>
        <p:nvSpPr>
          <p:cNvPr id="38" name="Oval 37"/>
          <p:cNvSpPr/>
          <p:nvPr/>
        </p:nvSpPr>
        <p:spPr>
          <a:xfrm>
            <a:off x="8641080" y="390448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8404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Admin MFA, audit logs, rate limits</a:t>
            </a:r>
          </a:p>
        </p:txBody>
      </p:sp>
      <p:sp>
        <p:nvSpPr>
          <p:cNvPr id="40" name="Oval 39"/>
          <p:cNvSpPr/>
          <p:nvPr/>
        </p:nvSpPr>
        <p:spPr>
          <a:xfrm>
            <a:off x="8641080" y="440740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434340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Location used once, never stored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66360"/>
            <a:ext cx="11109960" cy="86868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16636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Ranking rule: a closer but unconfirmed listing never outranks a farther verified and recently updated one.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[18]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DATA FROM THE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Every search becomes a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Simulated traffic: 402 patient searches across 24 demo pharmacies in Ismailia governorate — demo data, shown to illustrate the analytics, not market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Search outcomes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03120"/>
          <a:ext cx="35661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51960" y="1783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Where stock was found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60520" y="2103120"/>
          <a:ext cx="388620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21040" y="17830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Freshness of listings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0" y="2103120"/>
          <a:ext cx="3520440" cy="3108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394960"/>
            <a:ext cx="11109960" cy="73152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Insight: </a:t>
            </a:r>
            <a:r>
              <a:rPr sz="1300" b="0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all 22 unmet searches were for Mixtard 30 100 IU/mL — stocked only at a warehouse. That is the demand signal suppliers and authorities need, captured without storing personal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[18] — live query of the prototype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PROOF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A working prototype — measured, not mocked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09344"/>
            <a:ext cx="1472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67/67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44192"/>
            <a:ext cx="1472184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automated tests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46304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1609344"/>
            <a:ext cx="1472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20/20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044192"/>
            <a:ext cx="1472184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end-to-end acceptance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609344"/>
            <a:ext cx="1472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44192"/>
            <a:ext cx="1472184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documented REST 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72384"/>
            <a:ext cx="1472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07232"/>
            <a:ext cx="1472184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stock-ledger mismatches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29260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3072384"/>
            <a:ext cx="1472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3507232"/>
            <a:ext cx="1472184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known dependency vulnerabilities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9260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072384"/>
            <a:ext cx="1472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AR · 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507232"/>
            <a:ext cx="1472184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full right-to-left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Automated tests by area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57200" y="4754880"/>
          <a:ext cx="5989320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812280" y="14630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Finder response time (ms)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720840" y="1783080"/>
          <a:ext cx="498348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12280" y="53949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Synthetic load: 3,000 pharmacies · 90,000 stock lines · 2-vCPU sandbox · 109 requests/s at 10 concurrent users.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[18]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Where we fit — and why we're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760720" cy="4206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1588" y="1600200"/>
            <a:ext cx="9144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698748"/>
            <a:ext cx="5760720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7959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Patient-facing   ←→   Pharmacy &amp; supply-facing (B2B)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-1645919" y="3566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Ordering &amp; delivery   ←→   Live availability &amp; supply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3434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Chefaa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89204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Yodawy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46177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Vezeeta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4348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Pharmacy Marts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9834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iSupply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24612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Pharmacy chain apps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606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EDA 'Availability'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1874519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Smart Pharmacy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48716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patients + pharmacies + warehouses,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554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What only we combine</a:t>
            </a:r>
          </a:p>
        </p:txBody>
      </p:sp>
      <p:sp>
        <p:nvSpPr>
          <p:cNvPr id="19" name="Oval 18"/>
          <p:cNvSpPr/>
          <p:nvPr/>
        </p:nvSpPr>
        <p:spPr>
          <a:xfrm>
            <a:off x="6812280" y="19659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947672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Live, verified multi-pharmacy availability with freshness labels</a:t>
            </a:r>
          </a:p>
        </p:txBody>
      </p:sp>
      <p:sp>
        <p:nvSpPr>
          <p:cNvPr id="21" name="Oval 20"/>
          <p:cNvSpPr/>
          <p:nvPr/>
        </p:nvSpPr>
        <p:spPr>
          <a:xfrm>
            <a:off x="6812280" y="27157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697479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Progressive 5 → 40 km search; Arabic-first; works without an account or GPS</a:t>
            </a:r>
          </a:p>
        </p:txBody>
      </p:sp>
      <p:sp>
        <p:nvSpPr>
          <p:cNvPr id="23" name="Oval 22"/>
          <p:cNvSpPr/>
          <p:nvPr/>
        </p:nvSpPr>
        <p:spPr>
          <a:xfrm>
            <a:off x="6812280" y="3465576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447288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Warehouse → pharmacy loop: incoming stock visible, receipts update stock</a:t>
            </a:r>
          </a:p>
        </p:txBody>
      </p:sp>
      <p:sp>
        <p:nvSpPr>
          <p:cNvPr id="25" name="Oval 24"/>
          <p:cNvSpPr/>
          <p:nvPr/>
        </p:nvSpPr>
        <p:spPr>
          <a:xfrm>
            <a:off x="6812280" y="4215383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197096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Auditable stock ledger — no overselling, every unit traceable</a:t>
            </a:r>
          </a:p>
        </p:txBody>
      </p:sp>
      <p:sp>
        <p:nvSpPr>
          <p:cNvPr id="27" name="Oval 26"/>
          <p:cNvSpPr/>
          <p:nvPr/>
        </p:nvSpPr>
        <p:spPr>
          <a:xfrm>
            <a:off x="6812280" y="496519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946904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Anonymous demand signals (unmet searches) for suppliers &amp; regulators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760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Positioning based on public company descriptions (2023–2026); competitors may offer features not shown — not a feature audit.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[12] [16] [17]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BUSINESS MODEL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Free for patients. Valuable for the supply 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7607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82296" cy="10789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1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Pharmacy Pro (SaaS)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Free listing &amp; stock updates; Pro adds ledger analytics, POS integration, team accounts and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15768"/>
            <a:ext cx="57607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15768"/>
            <a:ext cx="82296" cy="10789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3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Warehouse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45535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Order &amp; shipment management for distributors + a small fee per fulfilled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22776"/>
            <a:ext cx="57607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22776"/>
            <a:ext cx="82296" cy="107899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416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Demand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52544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Aggregated, anonymised shortage &amp; demand signals for distributors, manufacturers and authorities.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Proposed model — to be validated during the pilot.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5760720" cy="566928"/>
          </a:xfrm>
          <a:prstGeom prst="roundRect">
            <a:avLst>
              <a:gd name="adj" fmla="val 2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Patients always free · no selling of personal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Go-to-market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0296" y="2395728"/>
            <a:ext cx="18288" cy="548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9385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Pilot · Ismailia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24028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1.5M people [1] · 5–10 pharmacies + 1 warehouse · 8 weeks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294436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0296" y="3419856"/>
            <a:ext cx="18288" cy="548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9626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Suez Canal cities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26440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Port Said · Suez · Ismailia governorate towns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96849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986783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Greater Cairo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28853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Partner with national distributors and pharmacy groups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983480"/>
            <a:ext cx="4937760" cy="1069848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50749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Pilot KPIs 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15E59"/>
                </a:solidFill>
                <a:latin typeface="Calibri"/>
                <a:ea typeface="Calibri"/>
                <a:cs typeface="Arial"/>
              </a:rPr>
              <a:t>Search success rate · time-to-medicine · % fresh listings · request response time · shortage signal lead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Sources: [1]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Built in this hackathon — ready for a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0607040" cy="5486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20240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476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Done ·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Patient finder (AR / EN, RTL)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6557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Inventory ledger, CSV &amp; barcode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32504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6849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Orders, shipments &amp; receiving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99432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3542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Admin verification &amp; audit logs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16636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0235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67 automated tests passing</a:t>
            </a:r>
          </a:p>
        </p:txBody>
      </p:sp>
      <p:sp>
        <p:nvSpPr>
          <p:cNvPr id="18" name="Oval 17"/>
          <p:cNvSpPr/>
          <p:nvPr/>
        </p:nvSpPr>
        <p:spPr>
          <a:xfrm>
            <a:off x="4526279" y="192024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19" y="19476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Next 3 months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60604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79" y="289864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2834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Ismailia pilot with real pharmacies</a:t>
            </a:r>
          </a:p>
        </p:txBody>
      </p:sp>
      <p:sp>
        <p:nvSpPr>
          <p:cNvPr id="23" name="Oval 22"/>
          <p:cNvSpPr/>
          <p:nvPr/>
        </p:nvSpPr>
        <p:spPr>
          <a:xfrm>
            <a:off x="4526279" y="3465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340156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SMS / WhatsApp availability alerts</a:t>
            </a:r>
          </a:p>
        </p:txBody>
      </p:sp>
      <p:sp>
        <p:nvSpPr>
          <p:cNvPr id="25" name="Oval 24"/>
          <p:cNvSpPr/>
          <p:nvPr/>
        </p:nvSpPr>
        <p:spPr>
          <a:xfrm>
            <a:off x="4526279" y="403250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396849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Password reset &amp; e-mail verification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526279" y="45994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453542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POS connectors</a:t>
            </a:r>
          </a:p>
        </p:txBody>
      </p:sp>
      <p:sp>
        <p:nvSpPr>
          <p:cNvPr id="29" name="Oval 28"/>
          <p:cNvSpPr/>
          <p:nvPr/>
        </p:nvSpPr>
        <p:spPr>
          <a:xfrm>
            <a:off x="4526279" y="51663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510235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Verified catalog import (EDA data)</a:t>
            </a:r>
          </a:p>
        </p:txBody>
      </p:sp>
      <p:sp>
        <p:nvSpPr>
          <p:cNvPr id="31" name="Oval 30"/>
          <p:cNvSpPr/>
          <p:nvPr/>
        </p:nvSpPr>
        <p:spPr>
          <a:xfrm>
            <a:off x="8275319" y="1920240"/>
            <a:ext cx="420624" cy="420624"/>
          </a:xfrm>
          <a:prstGeom prst="ellipse">
            <a:avLst/>
          </a:prstGeom>
          <a:solidFill>
            <a:srgbClr val="0284C7"/>
          </a:solidFill>
          <a:ln>
            <a:noFill/>
          </a:ln>
          <a:effectLst>
            <a:outerShdw blurRad="177800" dist="38100" dir="5400000" algn="t" rotWithShape="0">
              <a:srgbClr val="0F17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59" y="19476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6–12 months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260604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5319" y="2898648"/>
            <a:ext cx="109728" cy="109728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19" y="2834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Demand forecasting &amp; reorder suggestions</a:t>
            </a:r>
          </a:p>
        </p:txBody>
      </p:sp>
      <p:sp>
        <p:nvSpPr>
          <p:cNvPr id="36" name="Oval 35"/>
          <p:cNvSpPr/>
          <p:nvPr/>
        </p:nvSpPr>
        <p:spPr>
          <a:xfrm>
            <a:off x="8275319" y="3465576"/>
            <a:ext cx="109728" cy="109728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9" y="340156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Insurance &amp; e-prescription partners</a:t>
            </a:r>
          </a:p>
        </p:txBody>
      </p:sp>
      <p:sp>
        <p:nvSpPr>
          <p:cNvPr id="38" name="Oval 37"/>
          <p:cNvSpPr/>
          <p:nvPr/>
        </p:nvSpPr>
        <p:spPr>
          <a:xfrm>
            <a:off x="8275319" y="4032504"/>
            <a:ext cx="109728" cy="109728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19" y="396849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Expansion to Greater Cairo</a:t>
            </a:r>
          </a:p>
        </p:txBody>
      </p:sp>
      <p:sp>
        <p:nvSpPr>
          <p:cNvPr id="40" name="Oval 39"/>
          <p:cNvSpPr/>
          <p:nvPr/>
        </p:nvSpPr>
        <p:spPr>
          <a:xfrm>
            <a:off x="8275319" y="4599432"/>
            <a:ext cx="109728" cy="109728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19" y="453542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Open API for health authorities</a:t>
            </a:r>
          </a:p>
        </p:txBody>
      </p:sp>
      <p:sp>
        <p:nvSpPr>
          <p:cNvPr id="42" name="Oval 41"/>
          <p:cNvSpPr/>
          <p:nvPr/>
        </p:nvSpPr>
        <p:spPr>
          <a:xfrm>
            <a:off x="8275319" y="5166360"/>
            <a:ext cx="109728" cy="109728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19" y="510235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Supplier performance scorecards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F766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2DD4BF"/>
                </a:solidFill>
                <a:latin typeface="Calibri"/>
                <a:ea typeface="Calibri"/>
                <a:cs typeface="Arial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The team behind Smart Pharmacy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965960"/>
            <a:ext cx="1325880" cy="132588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59" y="3474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Ahmed Alsaholy</a:t>
            </a:r>
          </a:p>
        </p:txBody>
      </p:sp>
      <p:sp>
        <p:nvSpPr>
          <p:cNvPr id="7" name="Oval 6"/>
          <p:cNvSpPr/>
          <p:nvPr/>
        </p:nvSpPr>
        <p:spPr>
          <a:xfrm>
            <a:off x="3337560" y="1965960"/>
            <a:ext cx="1325880" cy="1325880"/>
          </a:xfrm>
          <a:prstGeom prst="ellipse">
            <a:avLst/>
          </a:prstGeom>
          <a:solidFill>
            <a:srgbClr val="115E59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474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Ahmed Shahen</a:t>
            </a:r>
          </a:p>
        </p:txBody>
      </p:sp>
      <p:sp>
        <p:nvSpPr>
          <p:cNvPr id="9" name="Oval 8"/>
          <p:cNvSpPr/>
          <p:nvPr/>
        </p:nvSpPr>
        <p:spPr>
          <a:xfrm>
            <a:off x="5577840" y="1965960"/>
            <a:ext cx="1325880" cy="132588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KZ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474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Khaled Zakarya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1965960"/>
            <a:ext cx="1325880" cy="1325880"/>
          </a:xfrm>
          <a:prstGeom prst="ellipse">
            <a:avLst/>
          </a:prstGeom>
          <a:solidFill>
            <a:srgbClr val="115E59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74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Mohamed Ekramy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0" y="1965960"/>
            <a:ext cx="1325880" cy="132588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3474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Fayez Mohamed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2DD4BF"/>
                </a:solidFill>
                <a:latin typeface="Calibri"/>
                <a:ea typeface="Calibri"/>
                <a:cs typeface="Arial"/>
              </a:rPr>
              <a:t>BUILT WITH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9507" y="4663440"/>
            <a:ext cx="15544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NestJS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1147" y="4663440"/>
            <a:ext cx="15544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PostgreSQL + PostGIS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2787" y="4663440"/>
            <a:ext cx="15544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Next.js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427" y="4663440"/>
            <a:ext cx="15544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React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6067" y="4663440"/>
            <a:ext cx="15544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TypeScript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7707" y="4663440"/>
            <a:ext cx="15544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Thank you — let's make every medicine findable.   </a:t>
            </a:r>
            <a:r>
              <a:rPr sz="2000" b="1" i="0">
                <a:solidFill>
                  <a:srgbClr val="2DD4BF"/>
                </a:solidFill>
                <a:latin typeface="Calibri"/>
                <a:ea typeface="Calibri"/>
                <a:cs typeface="Arial"/>
              </a:rPr>
              <a:t>شكرًا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94A3B8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  <a:ea typeface="Calibri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1F2A"/>
                </a:solidFill>
                <a:latin typeface="Calibri"/>
                <a:ea typeface="Calibri"/>
                <a:cs typeface="Arial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406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CAPMAS population clock via EgyptToday (19 Sep 2026): 109.5M residents; Ismailia 1.5M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2"/>
              </a:rPr>
              <a:t>https://www.egypttoday.com/Article/1/149579/Egypt%E2%80%99s-domestic-population-reaches-109-5-Million-CAPMAS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[2]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Egyptian Pharmacists Syndicate records, in Expl. Res. Clin. Soc. Pharmacy (2023): 95,000 pharmacies; 313k pharmacists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3"/>
              </a:rPr>
              <a:t>https://www.sciencedirect.com/science/article/pii/S2667276623001658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[3]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Egyptian Drug Authority via Daily News Egypt (3 Jun 2025): market EGP 216bn (2023) → 309bn (2024)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4"/>
              </a:rPr>
              <a:t>https://www.dailynewsegypt.com/2025/06/03/egypts-pharmaceutical-market-hits-egp-309bn-in-2024-marking-43-growth/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[4]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Egyptian Drug Authority via Arab Finance (Jul 2026): EGP 422bn in 2025 (+37%), ~4bn packs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5"/>
              </a:rPr>
              <a:t>https://www.arabfinance.com/en/news/newdetails/exploring-egypt-rising-pharmaceutical-industry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[5]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Middle East Monitor (30 Jul 2024): ~1,000 of 17,000 registered drugs short; Concor, Brufen, Cataflam; 30M+ hypertensive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6"/>
              </a:rPr>
              <a:t>https://www.middleeastmonitor.com/20240730-egyptians-face-illness-amid-a-serious-scarcity-of-medicines/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[6]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Ahram Online (20 Aug 2024): shortages fell from ~1,000 to ~500 medicine types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7"/>
              </a:rPr>
              <a:t>https://english.ahram.org.eg/NewsContentP/1/530363/Egypt/Egypt-drug-shortage-crisis-Major-relief-around-the.aspx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[7]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Business Monthly (23 Oct 2024): 800+ types short (FEI memo); 20–40% of trade names (CICMS)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8"/>
              </a:rPr>
              <a:t>https://businessmonthlyeg.com/pharmaceutical-shortages-worsen-in-egypt-how-government-and-pharmacists-respond/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[8]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Zawia3 (25 Apr 2025): 1,471 branded drugs unavailable, 300 without alternatives (FEI Pharma Chamber, Mar 2025)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9"/>
              </a:rPr>
              <a:t>https://zawia3.com/en/psychiatric-medications/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[9]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EnterpriseAM (3 Sep 2025): ~200 missing medicines in 2025; chronic &amp; life-saving gaps persist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0"/>
              </a:rPr>
              <a:t>https://enterpriseam.com/egypt/2025/09/03/pharma-firms-push-for-price-hikes-as-shortages-and-black-market-resurface/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406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[10]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Al Majalla (9 Dec 2025): shortages cut from 40% to under 5% of total supply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1"/>
              </a:rPr>
              <a:t>https://en.majalla.com/node/328622/business-economy/egypt%E2%80%99s-drug-price-increases-help-companies-not-patients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[11]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The National (15 Feb 2024): Augmentin &amp; chronic-drug shortages; ~11M with diabetes; black-market risk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2"/>
              </a:rPr>
              <a:t>https://www.thenationalnews.com/mena/egypt/2024/02/15/medicine-shortages-cairo-diabetes-drugs/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[12]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Wamda (19 Mar 2024): ~30% of pharmacists' time on manual stock checks; 7,000+ products, 3,000 suppliers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3"/>
              </a:rPr>
              <a:t>https://www.wamda.com/2024/03/egypt-pharmacy-marts-secures-bridge-round-acasia-ventures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[13]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Mada Masr (9 Mar 2021): law allows a pharmacist to own no more than two pharmacies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4"/>
              </a:rPr>
              <a:t>https://www.madamasr.com/en/2021/03/09/feature/economy/the-rise-and-fall-of-egypts-top-pharmaceutical-chain/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[14]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Naos Solutions – Egyptians &amp; Digital 2025 (DataReportal data): 96.3M internet users, 81.9%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5"/>
              </a:rPr>
              <a:t>https://naos-solutions.com/egyptians-and-digital-2025-report/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[15]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IDSC via Zawya (20 Apr 2026): 92.6M mobile-internet subscriptions (Dec 2025)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6"/>
              </a:rPr>
              <a:t>https://www.zawya.com/en/business/technology-and-telecom/egypts-mobile-internet-users-hit-926mln-in-december-2025-idsc-hwrcfjnz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[16]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Ahram Online: Egyptian Drug Authority 'Availability' service for reporting missing medicines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7"/>
              </a:rPr>
              <a:t>https://english.ahram.org.eg/UI/Front/Inner.aspx?NewsContentID=527162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[17]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Competitor profiles – AccretiveEdge (Aug 2025: Yodawy, Chefaa, Vezeeta); Tracxn (Pharmacy Marts, iSupply)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0284C7"/>
                </a:solidFill>
                <a:latin typeface="Calibri"/>
                <a:ea typeface="Calibri"/>
                <a:cs typeface="Arial"/>
                <a:hlinkClick r:id="rId18"/>
              </a:rPr>
              <a:t>https://accretiveedge.com/articles/healthtech-startups-middle-east/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950" b="1" i="0">
                <a:solidFill>
                  <a:srgbClr val="0F766E"/>
                </a:solidFill>
                <a:latin typeface="Calibri"/>
                <a:ea typeface="Calibri"/>
                <a:cs typeface="Arial"/>
              </a:rPr>
              <a:t>[18]  </a:t>
            </a:r>
            <a:r>
              <a:rPr sz="950" b="0" i="0">
                <a:solidFill>
                  <a:srgbClr val="0F172A"/>
                </a:solidFill>
                <a:latin typeface="Calibri"/>
                <a:ea typeface="Calibri"/>
                <a:cs typeface="Arial"/>
              </a:rPr>
              <a:t>Smart Pharmacy prototype – team measurements, Oct 2026 (tests, latency on synthetic data, demo analytics)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8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Internal: docs/10-testing-and-quality.md and live demo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Market figures as reported by the cited sources (retrieved Oct 2026). Screens and demo analytics use clearly labelled demo data from the prototype; performance figures are team measurements on synthetic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Smart Pharmacy · </a:t>
            </a: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الصيدلية الذكية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